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601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F26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PEKİŞTİRMELİ ÖĞRENMEYE GİRİŞ — DÖNEM PROJESİ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Lav Tarlasında Güvenli Rota Öğrenimi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514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ve SARSA'nın Karşılaştırmalı Analizi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470148" y="3520440"/>
            <a:ext cx="475488" cy="475488"/>
          </a:xfrm>
          <a:prstGeom prst="rect">
            <a:avLst/>
          </a:prstGeom>
          <a:solidFill>
            <a:srgbClr val="1F77B4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0148" y="3520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000500" y="3520440"/>
            <a:ext cx="475488" cy="475488"/>
          </a:xfrm>
          <a:prstGeom prst="rect">
            <a:avLst/>
          </a:prstGeom>
          <a:solidFill>
            <a:srgbClr val="F2613F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30852" y="3520440"/>
            <a:ext cx="475488" cy="475488"/>
          </a:xfrm>
          <a:prstGeom prst="rect">
            <a:avLst/>
          </a:prstGeom>
          <a:solidFill>
            <a:srgbClr val="F2613F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61204" y="3520440"/>
            <a:ext cx="475488" cy="475488"/>
          </a:xfrm>
          <a:prstGeom prst="rect">
            <a:avLst/>
          </a:prstGeom>
          <a:solidFill>
            <a:srgbClr val="F2613F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591556" y="3520440"/>
            <a:ext cx="475488" cy="475488"/>
          </a:xfrm>
          <a:prstGeom prst="rect">
            <a:avLst/>
          </a:prstGeom>
          <a:solidFill>
            <a:srgbClr val="F2613F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21908" y="3520440"/>
            <a:ext cx="475488" cy="475488"/>
          </a:xfrm>
          <a:prstGeom prst="rect">
            <a:avLst/>
          </a:prstGeom>
          <a:solidFill>
            <a:srgbClr val="F2613F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52260" y="3520440"/>
            <a:ext cx="475488" cy="475488"/>
          </a:xfrm>
          <a:prstGeom prst="rect">
            <a:avLst/>
          </a:prstGeom>
          <a:solidFill>
            <a:srgbClr val="F2613F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82612" y="3520440"/>
            <a:ext cx="475488" cy="475488"/>
          </a:xfrm>
          <a:prstGeom prst="rect">
            <a:avLst/>
          </a:prstGeom>
          <a:solidFill>
            <a:srgbClr val="F2613F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12964" y="3520440"/>
            <a:ext cx="475488" cy="475488"/>
          </a:xfrm>
          <a:prstGeom prst="rect">
            <a:avLst/>
          </a:prstGeom>
          <a:solidFill>
            <a:srgbClr val="F2613F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43316" y="3520440"/>
            <a:ext cx="475488" cy="475488"/>
          </a:xfrm>
          <a:prstGeom prst="rect">
            <a:avLst/>
          </a:prstGeom>
          <a:solidFill>
            <a:srgbClr val="2CA02C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3316" y="3520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41148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Başlangıçtan (B) ödül bölgesine (H) — arada lav şeridi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4983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Kubilay İnanç</a:t>
            </a:r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No: *********47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48640" y="53949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Öğretim Üyesi: Dr. İlhan Tunç  ·  Bursa Teknik Üniversitesi  ·  Haziran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ve Motivasyon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Pekiştirmeli öğrenmede ajan, bir çevrede ardışık (kümülatif) kararlar alır; her adımda bir ödül toplar ve uzun vadeli toplam ödülü en büyük yapmayı öğrenir.</a:t>
            </a:r>
            <a:endParaRPr lang="en-US" sz="1700" dirty="0"/>
          </a:p>
          <a:p>
            <a:pPr algn="l"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problemlerde sık karşılaşılan ikilem: hedefe en kısa yol genellikle tehlikeli bir bölgenin kenarından geçer. Keşif sırasındaki tek bir hata ağır bir cezaya yol açabilir.</a:t>
            </a:r>
            <a:endParaRPr lang="en-US" sz="1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ikilemi incelemek için lav şeridiyle bölünmüş özel bir ızgara dünyası tasarladım.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675120" y="1554480"/>
            <a:ext cx="4937760" cy="1783080"/>
          </a:xfrm>
          <a:prstGeom prst="roundRect">
            <a:avLst>
              <a:gd name="adj" fmla="val 410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675120" y="1554480"/>
            <a:ext cx="128016" cy="1783080"/>
          </a:xfrm>
          <a:prstGeom prst="rect">
            <a:avLst/>
          </a:prstGeom>
          <a:solidFill>
            <a:srgbClr val="F2613F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0" y="17373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6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Kısa ama RİSKLİ yol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040880" y="2240280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Lavın hemen kenarından gider. Hızlıdır ama keşif sırasında lava düşme riski yüksektir (−100 ceza).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675120" y="3611880"/>
            <a:ext cx="4937760" cy="1783080"/>
          </a:xfrm>
          <a:prstGeom prst="roundRect">
            <a:avLst>
              <a:gd name="adj" fmla="val 410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675120" y="3611880"/>
            <a:ext cx="128016" cy="1783080"/>
          </a:xfrm>
          <a:prstGeom prst="rect">
            <a:avLst/>
          </a:prstGeom>
          <a:solidFill>
            <a:srgbClr val="2CA02C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0" y="37947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A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Uzun ama GÜVENLİ yol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040880" y="4297680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Lavdan uzaklaşıp yukarıdan dolaşır. Daha fazla adım gerektirir ama hata maliyeti düşüktür.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 Tarlası · Pekiştirmeli Öğrenme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Ortam: Lav Tarlası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26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Markov Karar Süreci (S, A, P, R, γ) olarak modellendi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Durum (S): </a:t>
            </a:r>
            <a:pPr algn="l"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ızgaradaki konum — 60 durum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Eylem (A): </a:t>
            </a:r>
            <a:pPr algn="l"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Yukarı · Aşağı · Sol · Sağ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Ödül (R): </a:t>
            </a:r>
            <a:pPr algn="l"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adım −1, tuzak −20, lav −100, hedef +100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Geçiş (P): </a:t>
            </a:r>
            <a:pPr algn="l" indent="0" marL="0">
              <a:spcAft>
                <a:spcPts val="900"/>
              </a:spcAft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deterministik; lava basınca başa dönüş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İndirim (γ): </a:t>
            </a:r>
            <a:pPr algn="l"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0,95</a:t>
            </a:r>
            <a:endParaRPr lang="en-US" sz="1700" dirty="0"/>
          </a:p>
        </p:txBody>
      </p:sp>
      <p:pic>
        <p:nvPicPr>
          <p:cNvPr id="5" name="Image 0" descr="D:/Claude/PO_Proje/figurler/01_ort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4215" y="1783080"/>
            <a:ext cx="4734385" cy="3566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 Tarlası · Pekiştirmeli Öğrenme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Yöntemler: Q-Learning ve SARSA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349240" cy="2834640"/>
          </a:xfrm>
          <a:prstGeom prst="roundRect">
            <a:avLst>
              <a:gd name="adj" fmla="val 258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554480"/>
            <a:ext cx="5349240" cy="566928"/>
          </a:xfrm>
          <a:prstGeom prst="rect">
            <a:avLst/>
          </a:prstGeom>
          <a:solidFill>
            <a:srgbClr val="1F77B4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Q-Learning  ·  off-policy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Güncelleme hedefi: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57860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+ γ · </a:t>
            </a:r>
            <a:pPr indent="0" marL="0">
              <a:buNone/>
            </a:pPr>
            <a:r>
              <a:rPr lang="en-US" sz="2000" b="1" dirty="0">
                <a:solidFill>
                  <a:srgbClr val="1F7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pPr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Q(s′, a′)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31546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Sonraki durumda seçilebilecek EN İYİ eylemi kullanır.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37673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 iyi ne yapılabilir?” — iyimser, optimal-odaklı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554480"/>
            <a:ext cx="5349240" cy="2834640"/>
          </a:xfrm>
          <a:prstGeom prst="roundRect">
            <a:avLst>
              <a:gd name="adj" fmla="val 258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554480"/>
            <a:ext cx="5349240" cy="566928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155448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SARSA  ·  on-policy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492240" y="22860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Güncelleme hedefi: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92240" y="257860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+ γ · Q(s′, a′)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92240" y="31546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Sonraki durumda GERÇEKTE seçilen eylemi kullanır.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92240" y="37673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2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“Ben gerçekte ne yaptım?” — temkinli, güvenli-odaklı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 Tarlası · Pekiştirmeli Öğrenme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Keşif–Sömürü Dengesi ve ε-greedy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5852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Sömürü: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ana kadar en iyi görünen eylemi seçmek.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Keşif: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eylemler deneyip daha iyisini bulmak.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Sadece sömürü → erken kilitlenme; sadece keşif → kararsızlık. Dengeyi ε-greedy politikayla kurdum:</a:t>
            </a:r>
            <a:endParaRPr lang="en-US" sz="17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26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0,1</a:t>
            </a:r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kararların ~%90'ı sömürü, ~%10'u keşif.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766560" y="2377440"/>
            <a:ext cx="4361688" cy="868680"/>
          </a:xfrm>
          <a:prstGeom prst="rect">
            <a:avLst/>
          </a:prstGeom>
          <a:solidFill>
            <a:srgbClr val="1F77B4"/>
          </a:solidFill>
          <a:ln/>
        </p:spPr>
      </p:sp>
      <p:sp>
        <p:nvSpPr>
          <p:cNvPr id="5" name="Shape 3"/>
          <p:cNvSpPr/>
          <p:nvPr/>
        </p:nvSpPr>
        <p:spPr>
          <a:xfrm>
            <a:off x="11128248" y="2377440"/>
            <a:ext cx="484632" cy="868680"/>
          </a:xfrm>
          <a:prstGeom prst="rect">
            <a:avLst/>
          </a:prstGeom>
          <a:solidFill>
            <a:srgbClr val="F2613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0" y="2377440"/>
            <a:ext cx="4361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%90 Sömürü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28248" y="2377440"/>
            <a:ext cx="484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771278" y="3383280"/>
            <a:ext cx="18416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F26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Keşif (ε)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 Tarlası · Pekiştirmeli Öğrenme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Deneysel Kurulum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7492" y="1920240"/>
            <a:ext cx="2103120" cy="1737360"/>
          </a:xfrm>
          <a:prstGeom prst="roundRect">
            <a:avLst>
              <a:gd name="adj" fmla="val 421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7492" y="22402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77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α = 0,5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07492" y="2926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öğrenme oranı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75204" y="1920240"/>
            <a:ext cx="2103120" cy="1737360"/>
          </a:xfrm>
          <a:prstGeom prst="roundRect">
            <a:avLst>
              <a:gd name="adj" fmla="val 421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75204" y="22402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CA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γ = 0,95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775204" y="2926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indirim faktörü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42916" y="1920240"/>
            <a:ext cx="2103120" cy="1737360"/>
          </a:xfrm>
          <a:prstGeom prst="roundRect">
            <a:avLst>
              <a:gd name="adj" fmla="val 421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42916" y="22402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6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ε = 0,1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042916" y="2926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keşif oranı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0628" y="1920240"/>
            <a:ext cx="2103120" cy="1737360"/>
          </a:xfrm>
          <a:prstGeom prst="roundRect">
            <a:avLst>
              <a:gd name="adj" fmla="val 421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0628" y="22402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310628" y="2926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epizod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578340" y="1920240"/>
            <a:ext cx="2103120" cy="1737360"/>
          </a:xfrm>
          <a:prstGeom prst="roundRect">
            <a:avLst>
              <a:gd name="adj" fmla="val 421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94A3B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578340" y="22402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9578340" y="2926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bağımsız tohum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4297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Uygulama:  </a:t>
            </a:r>
            <a:pPr algn="ctr"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 · NumPy · Matplotlib · kendi yazdığım ortam ve ajanlar. Sonuçlar 25 tohumun ortalamasıdır.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 Tarlası · Pekiştirmeli Öğrenme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Sonuçlar: Öğrenme Eğrileri</a:t>
            </a:r>
            <a:endParaRPr lang="en-US" sz="3000" dirty="0"/>
          </a:p>
        </p:txBody>
      </p:sp>
      <p:pic>
        <p:nvPicPr>
          <p:cNvPr id="3" name="Image 0" descr="D:/Claude/PO_Proje/figurler/02_ogrenme_egriler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656832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525512" y="1737360"/>
            <a:ext cx="4087368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Çevrimiçi (eğitim) ödülde sıralama: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b="1" dirty="0">
                <a:solidFill>
                  <a:srgbClr val="FF7F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SARSA &gt; Q-Learning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eğrisi daha düşük ve dalgalı: lav kenarından geçtiği için keşifte zaman zaman lava düşer.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iki yöntem de rastgele politikadan (≈ −3734) çok daha iyidir.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 Tarlası · Pekiştirmeli Öğrenme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Öğrenilen Rotalar: Riskli ↔ Güvenli</a:t>
            </a:r>
            <a:endParaRPr lang="en-US" sz="3000" dirty="0"/>
          </a:p>
        </p:txBody>
      </p:sp>
      <p:pic>
        <p:nvPicPr>
          <p:cNvPr id="3" name="Image 0" descr="D:/Claude/PO_Proje/figurler/04_ogrenilen_rota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" y="1554480"/>
            <a:ext cx="10424160" cy="336780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10516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7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→ 11 adım (lav kenarı, optimal/riskli)</a:t>
            </a:r>
            <a:pPr algn="ctr" indent="0" marL="0">
              <a:buNone/>
            </a:pPr>
            <a:r>
              <a:rPr lang="en-US" sz="1600" b="1" dirty="0">
                <a:solidFill>
                  <a:srgbClr val="FF7F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SARSA → 15 adım (güvenli, daha uzun)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 Tarlası · Pekiştirmeli Öğrenme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Nasıl Öğreniyor? (Eğitim Aşaması)</a:t>
            </a:r>
            <a:endParaRPr lang="en-US" sz="3000" dirty="0"/>
          </a:p>
        </p:txBody>
      </p:sp>
      <p:pic>
        <p:nvPicPr>
          <p:cNvPr id="3" name="Image 0" descr="D:/Claude/PO_Proje/figurler/06_egitim_asamalar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8236" y="1234440"/>
            <a:ext cx="8412480" cy="43140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68569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Eğitimsiz ajan hedefe ulaşamaz (ödül −200). </a:t>
            </a:r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~20. epizodda Q-Learning optimal rotayı, ~26. epizodda SARSA güvenli rotayı</a:t>
            </a:r>
            <a:pPr algn="ctr"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öğrenip kararlı hâle gelir.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 Tarlası · Pekiştirmeli Öğrenme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ε (Keşif Oranı) Değişirse Ne Olur?</a:t>
            </a:r>
            <a:endParaRPr lang="en-US" sz="3000" dirty="0"/>
          </a:p>
        </p:txBody>
      </p:sp>
      <p:pic>
        <p:nvPicPr>
          <p:cNvPr id="3" name="Image 0" descr="D:/Claude/PO_Proje/figurler/08_epsil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1371600"/>
            <a:ext cx="10241280" cy="393895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44771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arttıkça çevrimiçi ödül düşer ve adım sayısı artar (daha çok lavaya düşme). </a:t>
            </a:r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Öğrenilen açgözlü politika ise optimal kalır. </a:t>
            </a:r>
            <a:pPr algn="ctr" indent="0" marL="0">
              <a:buNone/>
            </a:pPr>
            <a:r>
              <a:rPr lang="en-US" sz="1400" b="1" dirty="0">
                <a:solidFill>
                  <a:srgbClr val="B2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SARSA yüksek ε'de Q-Learning'den daha az bozulur (daha güvenli).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 Tarlası · Pekiştirmeli Öğrenme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B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Karşılaştırma ve Eğitim Değeri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943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Özellik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Q-Learning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F0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Tür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Off-policy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On-policy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Hedef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Q(s′,a′)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Q(s′,a′)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Karakter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İyimser / optimal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Temkinli / güvenli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 projede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adım (riskli)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adım (güvenli)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766560" y="1600200"/>
            <a:ext cx="48463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 değeri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On-policy / off-policy farkı yalnızca teorik değil: aynı ortamda iki ajan farklı davranır.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Q-Learning, modeli bilmeden BFS'in optimal yolunu (11 adım) deneyimle buldu.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Güvenlik kritikse (gerçek robot) SARSA; optimallik kritikse Q-Learning uygundur.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 Tarlası · Pekiştirmeli Öğrenme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Sonuç ve Gelecek Çalışmalar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600200"/>
            <a:ext cx="10881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Kendi tasarladığım Lav Tarlası ortamında Q-Learning ve SARSA'yı uyguladım ve karşılaştırdım.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optimal (kısa) yolu, SARSA ise güvenli (uzun) yolu öğrendi — on/off-policy farkının somut gösterimi.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iki yöntem de rastgele politikadan çok daha başarılıydı.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26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Gelecek: </a:t>
            </a:r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stokastik ortam · ε-azaltma çizelgesi · fonksiyon yaklaşımı / DQN · Double Q-Learning.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5166360"/>
            <a:ext cx="3840480" cy="0"/>
          </a:xfrm>
          <a:prstGeom prst="line">
            <a:avLst/>
          </a:prstGeom>
          <a:noFill/>
          <a:ln w="25400">
            <a:solidFill>
              <a:srgbClr val="F261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5349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Teşekkürler — Sorularınız?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Kubilay İnanç · *********47 · Dr. İlhan Tunç · Bursa Teknik Üniversitesi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Lav Tarlası — Pekiştirmeli Öğrenme</dc:title>
  <dc:subject>PptxGenJS Presentation</dc:subject>
  <dc:creator>Kubilay İnanç</dc:creator>
  <cp:lastModifiedBy>Kubilay İnanç</cp:lastModifiedBy>
  <cp:revision>1</cp:revision>
  <dcterms:created xsi:type="dcterms:W3CDTF">2026-06-02T11:06:36Z</dcterms:created>
  <dcterms:modified xsi:type="dcterms:W3CDTF">2026-06-02T11:06:36Z</dcterms:modified>
</cp:coreProperties>
</file>